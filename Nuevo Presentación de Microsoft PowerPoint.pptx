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896F-49EA-40F4-889A-623DD64120AA}" type="datetimeFigureOut">
              <a:rPr lang="es-ES" smtClean="0"/>
              <a:t>25/04/2026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8BC57-2590-4644-9C90-8B54F9787C8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4522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896F-49EA-40F4-889A-623DD64120AA}" type="datetimeFigureOut">
              <a:rPr lang="es-ES" smtClean="0"/>
              <a:t>25/04/2026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8BC57-2590-4644-9C90-8B54F9787C8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07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896F-49EA-40F4-889A-623DD64120AA}" type="datetimeFigureOut">
              <a:rPr lang="es-ES" smtClean="0"/>
              <a:t>25/04/2026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8BC57-2590-4644-9C90-8B54F9787C8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7783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896F-49EA-40F4-889A-623DD64120AA}" type="datetimeFigureOut">
              <a:rPr lang="es-ES" smtClean="0"/>
              <a:t>25/04/2026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8BC57-2590-4644-9C90-8B54F9787C8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3765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896F-49EA-40F4-889A-623DD64120AA}" type="datetimeFigureOut">
              <a:rPr lang="es-ES" smtClean="0"/>
              <a:t>25/04/2026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8BC57-2590-4644-9C90-8B54F9787C8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2287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896F-49EA-40F4-889A-623DD64120AA}" type="datetimeFigureOut">
              <a:rPr lang="es-ES" smtClean="0"/>
              <a:t>25/04/2026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8BC57-2590-4644-9C90-8B54F9787C8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2868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896F-49EA-40F4-889A-623DD64120AA}" type="datetimeFigureOut">
              <a:rPr lang="es-ES" smtClean="0"/>
              <a:t>25/04/2026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8BC57-2590-4644-9C90-8B54F9787C8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8191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896F-49EA-40F4-889A-623DD64120AA}" type="datetimeFigureOut">
              <a:rPr lang="es-ES" smtClean="0"/>
              <a:t>25/04/2026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8BC57-2590-4644-9C90-8B54F9787C8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3377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896F-49EA-40F4-889A-623DD64120AA}" type="datetimeFigureOut">
              <a:rPr lang="es-ES" smtClean="0"/>
              <a:t>25/04/2026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8BC57-2590-4644-9C90-8B54F9787C8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6586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896F-49EA-40F4-889A-623DD64120AA}" type="datetimeFigureOut">
              <a:rPr lang="es-ES" smtClean="0"/>
              <a:t>25/04/2026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8BC57-2590-4644-9C90-8B54F9787C8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5776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896F-49EA-40F4-889A-623DD64120AA}" type="datetimeFigureOut">
              <a:rPr lang="es-ES" smtClean="0"/>
              <a:t>25/04/2026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8BC57-2590-4644-9C90-8B54F9787C8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3395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96896F-49EA-40F4-889A-623DD64120AA}" type="datetimeFigureOut">
              <a:rPr lang="es-ES" smtClean="0"/>
              <a:t>25/04/2026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98BC57-2590-4644-9C90-8B54F9787C8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4060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459434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 Nacional Experimental De Los Llanos Occidentales “Ezequiel Zamora”</a:t>
            </a:r>
            <a:endParaRPr lang="es-ES" sz="2400" i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3508146" y="5226869"/>
            <a:ext cx="5172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>
                <a:solidFill>
                  <a:schemeClr val="accent2"/>
                </a:solidFill>
              </a:rPr>
              <a:t>Estudiante: Nelson Alejandro Villarroel Pinto.</a:t>
            </a:r>
            <a:endParaRPr lang="es-ES" dirty="0">
              <a:solidFill>
                <a:schemeClr val="accent2"/>
              </a:solidFill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3293834" y="5884093"/>
            <a:ext cx="560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>
                <a:solidFill>
                  <a:schemeClr val="accent2"/>
                </a:solidFill>
              </a:rPr>
              <a:t>Materia: Auditoria de sistemas informáticos | 25/04/2026</a:t>
            </a:r>
            <a:endParaRPr lang="es-ES" dirty="0">
              <a:solidFill>
                <a:schemeClr val="accent2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1302544" y="2381487"/>
            <a:ext cx="95869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dirty="0" smtClean="0">
                <a:solidFill>
                  <a:schemeClr val="accent2"/>
                </a:solidFill>
              </a:rPr>
              <a:t>Módulo II: </a:t>
            </a:r>
          </a:p>
          <a:p>
            <a:pPr algn="ctr"/>
            <a:endParaRPr lang="es-ES" sz="3600" dirty="0" smtClean="0">
              <a:solidFill>
                <a:schemeClr val="accent2"/>
              </a:solidFill>
            </a:endParaRPr>
          </a:p>
          <a:p>
            <a:pPr algn="ctr"/>
            <a:r>
              <a:rPr lang="es-ES" sz="3600" dirty="0" smtClean="0">
                <a:solidFill>
                  <a:schemeClr val="accent2"/>
                </a:solidFill>
              </a:rPr>
              <a:t>Metodología para realizar la auditoria informática.</a:t>
            </a:r>
            <a:endParaRPr lang="es-ES" sz="3600" dirty="0">
              <a:solidFill>
                <a:schemeClr val="accent2"/>
              </a:solidFill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0" y="943407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UNELLEZ</a:t>
            </a:r>
            <a:endParaRPr lang="es-ES" sz="2800" i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448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1204687"/>
            <a:ext cx="121920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Alcance y Objetivos de la Auditoría.</a:t>
            </a:r>
          </a:p>
          <a:p>
            <a:pPr algn="ctr"/>
            <a:endParaRPr lang="es-ES" sz="2400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i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Alcance: </a:t>
            </a:r>
            <a:r>
              <a:rPr lang="es-ES" sz="24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funciones, departamentos y sedes geográficas a inspeccionar.</a:t>
            </a:r>
            <a:endParaRPr lang="es-ES" sz="2400" b="1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2400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400" i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 relación se desglosa de la siguiente manera:</a:t>
            </a:r>
          </a:p>
          <a:p>
            <a:endParaRPr lang="es-ES" sz="2400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i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Objetivos Generales: </a:t>
            </a:r>
            <a:r>
              <a:rPr lang="es-ES" sz="24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Orientados a garantizar la operatividad y confiabilidad global del sistema.</a:t>
            </a:r>
          </a:p>
          <a:p>
            <a:endParaRPr lang="es-ES" sz="2400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i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Objetivos Operativos: </a:t>
            </a:r>
            <a:r>
              <a:rPr lang="es-ES" sz="24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Centrados en validar la compatibilidad del hardware y software para alcanzar el máximo rendimiento y productividad diaria.</a:t>
            </a:r>
          </a:p>
          <a:p>
            <a:endParaRPr lang="es-ES" sz="3600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3600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3600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36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852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1"/>
            <a:ext cx="12192000" cy="9694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s-ES" sz="2400" b="1" i="1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2400" b="1" i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Estudio del Entorno.</a:t>
            </a:r>
          </a:p>
          <a:p>
            <a:pPr algn="ctr"/>
            <a:endParaRPr lang="es-ES" sz="2400" i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400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ES" sz="2400" i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 análisis se divide en cuatro pilares fundamentales:</a:t>
            </a:r>
          </a:p>
          <a:p>
            <a:endParaRPr lang="es-ES" sz="2400" i="1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400" b="1" i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Análisis Organizativo</a:t>
            </a:r>
          </a:p>
          <a:p>
            <a:r>
              <a:rPr lang="es-ES" sz="2400" i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incluye: </a:t>
            </a:r>
            <a:r>
              <a:rPr lang="es-ES" sz="24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Validación jerárquica, Control de flujos¸ Análisis de puestos.</a:t>
            </a:r>
          </a:p>
          <a:p>
            <a:endParaRPr lang="es-ES" sz="2400" i="1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400" b="1" i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Entorno Operacional y Ubicación Física</a:t>
            </a:r>
          </a:p>
          <a:p>
            <a:r>
              <a:rPr lang="es-ES" sz="24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sigue los criterios: Control Geográfico, Integridad de la Arquitectura, Alineación Estratégica.</a:t>
            </a:r>
          </a:p>
          <a:p>
            <a:endParaRPr lang="es-ES" sz="2400" i="1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400" b="1" i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Inventario de Activos Tecnológicos</a:t>
            </a:r>
          </a:p>
          <a:p>
            <a:r>
              <a:rPr lang="es-ES" sz="24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sz="24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barca: el hardware y software y área de comunicaciones y redes.</a:t>
            </a:r>
          </a:p>
          <a:p>
            <a:endParaRPr lang="es-ES" sz="2400" i="1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400" b="1" i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Aplicaciones, Bases de Datos y Procesos</a:t>
            </a:r>
          </a:p>
          <a:p>
            <a:r>
              <a:rPr lang="es-ES" sz="2400" i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ES" sz="24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valúa: las aplicaciones, documentación adecuada y la carga informática.</a:t>
            </a:r>
          </a:p>
          <a:p>
            <a:endParaRPr lang="es-ES" sz="3600" i="1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3600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3600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36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3600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36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024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1"/>
            <a:ext cx="12192000" cy="9694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s-ES" sz="2400" b="1" i="1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2400" b="1" i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Elaboración del Plan y Programas de Trabajo.</a:t>
            </a:r>
            <a:endParaRPr lang="es-ES" sz="2400" b="1" i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sz="2400" b="1" i="1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ES" sz="24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establece un plan de trabajo detallado y se inicia la fase de programación de las actividades específicas, </a:t>
            </a:r>
            <a:r>
              <a:rPr lang="es-ES" sz="2400" i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basándose en ciertos criterios:</a:t>
            </a:r>
          </a:p>
          <a:p>
            <a:endParaRPr lang="es-ES" sz="2400" i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4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Ámbito de la revisión, Alcance del Volumen, Priorización de Materias.</a:t>
            </a:r>
          </a:p>
          <a:p>
            <a:endParaRPr lang="es-ES" sz="2400" i="1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400" i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Además es debe tomar en cuenta ciertas características y objetivos como:</a:t>
            </a:r>
          </a:p>
          <a:p>
            <a:endParaRPr lang="es-ES" sz="2400" i="1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400" i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	</a:t>
            </a:r>
            <a:r>
              <a:rPr lang="es-ES" sz="24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Establecer los esfuerzos y recursos.</a:t>
            </a:r>
          </a:p>
          <a:p>
            <a:r>
              <a:rPr lang="es-ES" sz="24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	Determinar la disponibilidad futura de dichos recursos durante el transcurso de la revisión.</a:t>
            </a:r>
          </a:p>
          <a:p>
            <a:r>
              <a:rPr lang="es-ES" sz="24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	Estructurar las tareas que deberá realizar.</a:t>
            </a:r>
          </a:p>
          <a:p>
            <a:r>
              <a:rPr lang="es-ES" sz="24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	Especificar claramente todas las ayudas y facilidades que el auditor debe recibir por parte del auditado para cumplir su labor.</a:t>
            </a:r>
          </a:p>
          <a:p>
            <a:endParaRPr lang="es-ES" sz="2400" i="1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3600" i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36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3600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36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3600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36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319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9448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i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Actividades de la Auditoría.</a:t>
            </a:r>
          </a:p>
          <a:p>
            <a:pPr algn="ctr"/>
            <a:endParaRPr lang="es-ES" sz="2400" b="1" i="1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s-ES" sz="2400" b="1" i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Enfoque de la Ejecución:</a:t>
            </a:r>
          </a:p>
          <a:p>
            <a:endParaRPr lang="es-ES" sz="2000" b="1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400" i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Enfoque general:</a:t>
            </a:r>
            <a:r>
              <a:rPr lang="es-ES" sz="2400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ES" sz="2400" i="1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4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ofrece un diagnóstico exhaustivo y de máxima calidad mediante una mayor inversión de recursos.</a:t>
            </a:r>
          </a:p>
          <a:p>
            <a:endParaRPr lang="es-ES" sz="2400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400" i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Enfoque específico:</a:t>
            </a:r>
          </a:p>
          <a:p>
            <a:r>
              <a:rPr lang="es-ES" sz="24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agiliza la entrega de resultados al focalizarse en áreas puntuales, limitando la profundidad del informe global.</a:t>
            </a:r>
          </a:p>
          <a:p>
            <a:endParaRPr lang="es-ES" sz="2400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400" b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s-ES" sz="2400" b="1" i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Técnicas de Trabajo, Recopilación de Información y herramienta de evaluación:</a:t>
            </a:r>
          </a:p>
          <a:p>
            <a:endParaRPr lang="es-ES" sz="2400" b="1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4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proceso comienza con el análisis minucioso de la información.</a:t>
            </a:r>
          </a:p>
          <a:p>
            <a:r>
              <a:rPr lang="es-ES" sz="24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luego profundizar en el conocimiento de los procesos.</a:t>
            </a:r>
          </a:p>
          <a:p>
            <a:r>
              <a:rPr lang="es-ES" sz="2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sz="24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uditor se apoya en entrevistas personales, técnicas de simulación y el uso de muestreos estadístico.</a:t>
            </a:r>
          </a:p>
          <a:p>
            <a:endParaRPr lang="es-ES" sz="36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3600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36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3600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36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29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2321170"/>
            <a:ext cx="1219200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800" dirty="0" smtClean="0">
                <a:solidFill>
                  <a:schemeClr val="accent2"/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Muchas Gracias </a:t>
            </a:r>
          </a:p>
          <a:p>
            <a:pPr algn="ctr"/>
            <a:r>
              <a:rPr lang="es-ES" sz="4800" dirty="0" smtClean="0">
                <a:solidFill>
                  <a:schemeClr val="accent2"/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Por Su Atención.</a:t>
            </a:r>
          </a:p>
          <a:p>
            <a:r>
              <a:rPr lang="es-ES" sz="36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ES" sz="36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3600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36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3600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36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838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360</Words>
  <Application>Microsoft Office PowerPoint</Application>
  <PresentationFormat>Panorámica</PresentationFormat>
  <Paragraphs>79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Algerian</vt:lpstr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Amakusa</dc:creator>
  <cp:lastModifiedBy>Amakusa</cp:lastModifiedBy>
  <cp:revision>21</cp:revision>
  <dcterms:created xsi:type="dcterms:W3CDTF">2026-04-25T01:08:48Z</dcterms:created>
  <dcterms:modified xsi:type="dcterms:W3CDTF">2026-04-25T02:22:05Z</dcterms:modified>
</cp:coreProperties>
</file>